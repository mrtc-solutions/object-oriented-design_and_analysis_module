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Complete OOAD Case Study, Model Integration and CASE Tool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15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Analyse </a:t>
            </a:r>
            <a:r>
              <a:rPr sz="1600">
                <a:solidFill>
                  <a:srgbClr val="2B2626"/>
                </a:solidFill>
                <a:latin typeface="Open Sans"/>
              </a:rPr>
              <a:t>a complete software problem using OO techniques.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Extract </a:t>
            </a:r>
            <a:r>
              <a:rPr sz="1600">
                <a:solidFill>
                  <a:srgbClr val="2B2626"/>
                </a:solidFill>
                <a:latin typeface="Open Sans"/>
              </a:rPr>
              <a:t>actors, functional and non-functional requirements.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Build </a:t>
            </a:r>
            <a:r>
              <a:rPr sz="1600">
                <a:solidFill>
                  <a:srgbClr val="2B2626"/>
                </a:solidFill>
                <a:latin typeface="Open Sans"/>
              </a:rPr>
              <a:t>use-case, class, interaction, activity, state and component models.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Refine </a:t>
            </a:r>
            <a:r>
              <a:rPr sz="1600">
                <a:solidFill>
                  <a:srgbClr val="2B2626"/>
                </a:solidFill>
                <a:latin typeface="Open Sans"/>
              </a:rPr>
              <a:t>the analysis model into a design model with responsibilities.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Check </a:t>
            </a:r>
            <a:r>
              <a:rPr sz="1600">
                <a:solidFill>
                  <a:srgbClr val="2B2626"/>
                </a:solidFill>
                <a:latin typeface="Open Sans"/>
              </a:rPr>
              <a:t>consistency between the UML models.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Document </a:t>
            </a:r>
            <a:r>
              <a:rPr sz="1600">
                <a:solidFill>
                  <a:srgbClr val="2B2626"/>
                </a:solidFill>
                <a:latin typeface="Open Sans"/>
              </a:rPr>
              <a:t>a complete OOAD solution and use a CASE/UML tool.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how the final design could be implemented.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diagrams must tell one consistent story and guide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14 -&gt; Week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From understanding to a complete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2</a:t>
            </a:r>
          </a:p>
        </p:txBody>
      </p:sp>
      <p:pic>
        <p:nvPicPr>
          <p:cNvPr id="9" name="Picture 8" descr="w15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 15 applies Weeks 1–14 to one complete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OOAD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whole module in one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3</a:t>
            </a:r>
          </a:p>
        </p:txBody>
      </p:sp>
      <p:pic>
        <p:nvPicPr>
          <p:cNvPr id="9" name="Picture 8" descr="w15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most important word: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Why Integration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Three ways a model can go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4</a:t>
            </a:r>
          </a:p>
        </p:txBody>
      </p:sp>
      <p:pic>
        <p:nvPicPr>
          <p:cNvPr id="9" name="Picture 8" descr="w15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good OOAD model must be internally consistent.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University course registration — the pain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5</a:t>
            </a:r>
          </a:p>
        </p:txBody>
      </p:sp>
      <p:pic>
        <p:nvPicPr>
          <p:cNvPr id="9" name="Picture 8" descr="w15_business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Students register online; administrators manage courses and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Functional vs non-functional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6</a:t>
            </a:r>
          </a:p>
        </p:txBody>
      </p:sp>
      <p:pic>
        <p:nvPicPr>
          <p:cNvPr id="9" name="Picture 8" descr="w15_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FR = what it does · NFR = how well it operates.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External roles — human or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7</a:t>
            </a:r>
          </a:p>
        </p:txBody>
      </p:sp>
      <p:pic>
        <p:nvPicPr>
          <p:cNvPr id="9" name="Picture 8" descr="w15_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· Administrator · Lecturer · Notification Service · Payment Gateway.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Use-Case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Student and Administrator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8</a:t>
            </a:r>
          </a:p>
        </p:txBody>
      </p:sp>
      <p:pic>
        <p:nvPicPr>
          <p:cNvPr id="9" name="Picture 8" descr="w15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Produce the exact notation with a UML tool in the practical.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Use Case: Register for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Do not stop at the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9</a:t>
            </a:r>
          </a:p>
        </p:txBody>
      </p:sp>
      <p:pic>
        <p:nvPicPr>
          <p:cNvPr id="9" name="Picture 8" descr="w15_use_case_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Document the main scenario AND the alternative flows.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Candidate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Domain vs 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10</a:t>
            </a:r>
          </a:p>
        </p:txBody>
      </p:sp>
      <p:pic>
        <p:nvPicPr>
          <p:cNvPr id="9" name="Picture 8" descr="w15_candidate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Domain = the problem · Technical = the implementation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Class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Controller -&gt; Service -&gt; Domain -&gt;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11</a:t>
            </a:r>
          </a:p>
        </p:txBody>
      </p:sp>
      <p:pic>
        <p:nvPicPr>
          <p:cNvPr id="9" name="Picture 8" descr="w15_clas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From “register a course” to an implementation-ready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Associations &amp; Multiplicity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Reading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12</a:t>
            </a:r>
          </a:p>
        </p:txBody>
      </p:sp>
      <p:pic>
        <p:nvPicPr>
          <p:cNvPr id="9" name="Picture 8" descr="w15_associ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1 — 0..* Registration — 0..* 1 Course.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Inheritance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shared User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13</a:t>
            </a:r>
          </a:p>
        </p:txBody>
      </p:sp>
      <p:pic>
        <p:nvPicPr>
          <p:cNvPr id="9" name="Picture 8" descr="w15_inheri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Use inheritance only when it is genuinely appropriate.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Sequence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Which object talks to which, in what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14</a:t>
            </a:r>
          </a:p>
        </p:txBody>
      </p:sp>
      <p:pic>
        <p:nvPicPr>
          <p:cNvPr id="9" name="Picture 8" descr="w15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reserveSeat() + save in one transaction; send confirmation only after commit.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State Machine: Course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States and their triggering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15</a:t>
            </a:r>
          </a:p>
        </p:txBody>
      </p:sp>
      <p:pic>
        <p:nvPicPr>
          <p:cNvPr id="9" name="Picture 8" descr="w15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Guard: enrolledCount &lt;= capacity · seat reservation drives Available &lt;-&gt; Full.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Activity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registration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16</a:t>
            </a:r>
          </a:p>
        </p:txBody>
      </p:sp>
      <p:pic>
        <p:nvPicPr>
          <p:cNvPr id="9" name="Picture 8" descr="w15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Check prerequisite + duplicate; reserve seat atomically; reject without saving on failure.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Components &amp;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Presentation -&gt; Application -&gt; Domain -&gt; 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17</a:t>
            </a:r>
          </a:p>
        </p:txBody>
      </p:sp>
      <p:pic>
        <p:nvPicPr>
          <p:cNvPr id="9" name="Picture 8" descr="w15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Connects directly with the architecture covered earlier.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Model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Following one requirement through the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18</a:t>
            </a:r>
          </a:p>
        </p:txBody>
      </p:sp>
      <p:pic>
        <p:nvPicPr>
          <p:cNvPr id="9" name="Picture 8" descr="w15_trace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FR5 -&gt; registerStudent() · FR6 -&gt; existsActiveFor() + unique constraint · FR7 -&gt; reserveSeat().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Model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Six consistency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Use Case &lt;- Class: </a:t>
            </a:r>
            <a:r>
              <a:rPr sz="1600">
                <a:solidFill>
                  <a:srgbClr val="2B2626"/>
                </a:solidFill>
                <a:latin typeface="Open Sans"/>
              </a:rPr>
              <a:t>does every use case have supporting classes?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Class &lt;- Sequence: </a:t>
            </a:r>
            <a:r>
              <a:rPr sz="1600">
                <a:solidFill>
                  <a:srgbClr val="2B2626"/>
                </a:solidFill>
                <a:latin typeface="Open Sans"/>
              </a:rPr>
              <a:t>does every message match an operation?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Sequence &lt;- State: </a:t>
            </a:r>
            <a:r>
              <a:rPr sz="1600">
                <a:solidFill>
                  <a:srgbClr val="2B2626"/>
                </a:solidFill>
                <a:latin typeface="Open Sans"/>
              </a:rPr>
              <a:t>do messages cause the right transitions?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Activity &lt;- Sequence: </a:t>
            </a:r>
            <a:r>
              <a:rPr sz="1600">
                <a:solidFill>
                  <a:srgbClr val="2B2626"/>
                </a:solidFill>
                <a:latin typeface="Open Sans"/>
              </a:rPr>
              <a:t>does the workflow match the interaction?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Class &lt;- Component: </a:t>
            </a:r>
            <a:r>
              <a:rPr sz="1600">
                <a:solidFill>
                  <a:srgbClr val="2B2626"/>
                </a:solidFill>
                <a:latin typeface="Open Sans"/>
              </a:rPr>
              <a:t>are classes sensibly allocated?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Requirements &lt;- Design: </a:t>
            </a:r>
            <a:r>
              <a:rPr sz="1600">
                <a:solidFill>
                  <a:srgbClr val="2B2626"/>
                </a:solidFill>
                <a:latin typeface="Open Sans"/>
              </a:rPr>
              <a:t>can each requirement be traced in?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“Check payment” with no payment class = something is missing.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Complete OOAD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the document contains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1. Introduction </a:t>
            </a:r>
            <a:r>
              <a:rPr sz="1500">
                <a:solidFill>
                  <a:srgbClr val="2B2626"/>
                </a:solidFill>
                <a:latin typeface="Open Sans"/>
              </a:rPr>
              <a:t>· 2. Requirements · 3. Actors · 4. Use cases · 5. Use-case diagram.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6. Domain/class model </a:t>
            </a:r>
            <a:r>
              <a:rPr sz="1500">
                <a:solidFill>
                  <a:srgbClr val="2B2626"/>
                </a:solidFill>
                <a:latin typeface="Open Sans"/>
              </a:rPr>
              <a:t>· 7. Interaction models · 8. Dynamic model · 9. Activity model.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10. Design </a:t>
            </a:r>
            <a:r>
              <a:rPr sz="1500">
                <a:solidFill>
                  <a:srgbClr val="2B2626"/>
                </a:solidFill>
                <a:latin typeface="Open Sans"/>
              </a:rPr>
              <a:t>· 11. Architecture · 12. Model validation · 13. Conclusion.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professional analysis/design document is complete and consistent.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CASE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Computer-Aided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Why: </a:t>
            </a:r>
            <a:r>
              <a:rPr sz="1600">
                <a:solidFill>
                  <a:srgbClr val="2B2626"/>
                </a:solidFill>
                <a:latin typeface="Open Sans"/>
              </a:rPr>
              <a:t>diagram editing, model repositories, documentation, consistency, code engineering.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Examples: </a:t>
            </a:r>
            <a:r>
              <a:rPr sz="1600">
                <a:solidFill>
                  <a:srgbClr val="2B2626"/>
                </a:solidFill>
                <a:latin typeface="Open Sans"/>
              </a:rPr>
              <a:t>Enterprise Architect · Visual Paradigm · StarUML · Modelio · diagrams.net.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Course outline: </a:t>
            </a:r>
            <a:r>
              <a:rPr sz="1600">
                <a:solidFill>
                  <a:srgbClr val="2B2626"/>
                </a:solidFill>
                <a:latin typeface="Open Sans"/>
              </a:rPr>
              <a:t>CASE Tool — Select Enterprise Demonstration.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tool matters less than understanding the modelling principles.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Tool Does Not Do the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Four classic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Diagrams without requirements </a:t>
            </a:r>
            <a:r>
              <a:rPr sz="1500">
                <a:solidFill>
                  <a:srgbClr val="2B2626"/>
                </a:solidFill>
                <a:latin typeface="Open Sans"/>
              </a:rPr>
              <a:t>— follow the correct order.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Too many classes </a:t>
            </a:r>
            <a:r>
              <a:rPr sz="1500">
                <a:solidFill>
                  <a:srgbClr val="2B2626"/>
                </a:solidFill>
                <a:latin typeface="Open Sans"/>
              </a:rPr>
              <a:t>— Manager/Processor/Handler/Helper without justification.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Copying diagrams </a:t>
            </a:r>
            <a:r>
              <a:rPr sz="1500">
                <a:solidFill>
                  <a:srgbClr val="2B2626"/>
                </a:solidFill>
                <a:latin typeface="Open Sans"/>
              </a:rPr>
              <a:t>— the model must represent YOUR system.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Inconsistent naming </a:t>
            </a:r>
            <a:r>
              <a:rPr sz="1500">
                <a:solidFill>
                  <a:srgbClr val="2B2626"/>
                </a:solidFill>
                <a:latin typeface="Open Sans"/>
              </a:rPr>
              <a:t>— Registration vs Enrollment vs CourseSignup.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Understand Problem -&gt; Model -&gt; Design, then use the tool.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Complete OOAD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big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23</a:t>
            </a:r>
          </a:p>
        </p:txBody>
      </p:sp>
      <p:pic>
        <p:nvPicPr>
          <p:cNvPr id="9" name="Picture 8" descr="w15_integ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799" y="1463040"/>
            <a:ext cx="7926097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Actors -&gt; Use cases -&gt; Analysis -&gt; Class/Dynamic/Behaviour -&gt; Design -&gt; Implementation.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15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most important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15 · Slide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1. </a:t>
            </a:r>
            <a:r>
              <a:rPr sz="1600">
                <a:solidFill>
                  <a:srgbClr val="2B2626"/>
                </a:solidFill>
                <a:latin typeface="Open Sans"/>
              </a:rPr>
              <a:t>OOAD is not about drawing many diagrams — it is about a coherent model.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2. </a:t>
            </a:r>
            <a:r>
              <a:rPr sz="1600">
                <a:solidFill>
                  <a:srgbClr val="2B2626"/>
                </a:solidFill>
                <a:latin typeface="Open Sans"/>
              </a:rPr>
              <a:t>Requirements, use cases, classes, interactions, behaviour and design support one another.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3. </a:t>
            </a:r>
            <a:r>
              <a:rPr sz="1600">
                <a:solidFill>
                  <a:srgbClr val="2B2626"/>
                </a:solidFill>
                <a:latin typeface="Open Sans"/>
              </a:rPr>
              <a:t>Requirement -&gt; Use Case -&gt; Class -&gt; Interaction -&gt; Behaviour -&gt; Design -&gt; Components -&gt; Documentation.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That is exactly what Week 15 is designed to test.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Complete the ten-deliverable major assignment on a real information system.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Cross-check your models: messages match operations, transitions have events.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Use a CASE/UML tool to organise the University Registration case study.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comprehensive revision and the integrated examination.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