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Comprehensive Revision, Integrated Case Study and Examination Preparation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16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the principles of OOAD and the strengths/limitations of OO development.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600">
                <a:solidFill>
                  <a:srgbClr val="2B2626"/>
                </a:solidFill>
                <a:latin typeface="Open Sans"/>
              </a:rPr>
              <a:t>analysis from design; explain UML and its diagram families.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Construct </a:t>
            </a:r>
            <a:r>
              <a:rPr sz="1600">
                <a:solidFill>
                  <a:srgbClr val="2B2626"/>
                </a:solidFill>
                <a:latin typeface="Open Sans"/>
              </a:rPr>
              <a:t>use-case, class, state, activity, sequence and communication diagrams.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relationships, inheritance, polymorphism and the Unified Process.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Combine </a:t>
            </a:r>
            <a:r>
              <a:rPr sz="1600">
                <a:solidFill>
                  <a:srgbClr val="2B2626"/>
                </a:solidFill>
                <a:latin typeface="Open Sans"/>
              </a:rPr>
              <a:t>object, dynamic and behavioural models and check consistency.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Apply </a:t>
            </a:r>
            <a:r>
              <a:rPr sz="1600">
                <a:solidFill>
                  <a:srgbClr val="2B2626"/>
                </a:solidFill>
                <a:latin typeface="Open Sans"/>
              </a:rPr>
              <a:t>OOAD to an unfamiliar problem and answer exam questions effectively.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student becomes the analyst / designer.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15 -&gt; Week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application to independence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</a:t>
            </a:r>
          </a:p>
        </p:txBody>
      </p:sp>
      <p:pic>
        <p:nvPicPr>
          <p:cNvPr id="9" name="Picture 8" descr="w16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Here is a real-world problem. Analyse it and design the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Entire Module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Connected stages, not exam 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3</a:t>
            </a:r>
          </a:p>
        </p:txBody>
      </p:sp>
      <p:pic>
        <p:nvPicPr>
          <p:cNvPr id="9" name="Picture 8" descr="w16_modul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You should reproduce this journey from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Analysis vs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Understand the problem vs construct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4</a:t>
            </a:r>
          </a:p>
        </p:txBody>
      </p:sp>
      <p:pic>
        <p:nvPicPr>
          <p:cNvPr id="9" name="Picture 8" descr="w16_analysi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= Student/Book/Loan · Design = LoanController/Service/Repository.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Core OO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Object · Class · Encapsulation ·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5</a:t>
            </a:r>
          </a:p>
        </p:txBody>
      </p:sp>
      <p:pic>
        <p:nvPicPr>
          <p:cNvPr id="9" name="Picture 8" descr="w16_oo_princ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Class = blueprint · Object = instance · Encapsulation controls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Inheritance &amp; Polymorphism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Is-a relationships and one operation, many behaviours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6</a:t>
            </a:r>
          </a:p>
        </p:txBody>
      </p:sp>
      <p:pic>
        <p:nvPicPr>
          <p:cNvPr id="9" name="Picture 8" descr="w16_inheritance_polymorph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Generalisation = UML relationship · Inheritance = implementation mechanism.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Diagram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Structural · Behavioural ·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7</a:t>
            </a:r>
          </a:p>
        </p:txBody>
      </p:sp>
      <p:pic>
        <p:nvPicPr>
          <p:cNvPr id="9" name="Picture 8" descr="w16_uml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UML is a modelling language, not a programming language.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Actors, Use Cases, Include &amp; Extend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goal an actor accomplishes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8</a:t>
            </a:r>
          </a:p>
        </p:txBody>
      </p:sp>
      <p:pic>
        <p:nvPicPr>
          <p:cNvPr id="9" name="Picture 8" descr="w16_use_case_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Include = required · Extend = optional — do not use them randomly.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Class Diagram Notation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Attributes, operations and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9</a:t>
            </a:r>
          </a:p>
        </p:txBody>
      </p:sp>
      <p:pic>
        <p:nvPicPr>
          <p:cNvPr id="9" name="Picture 8" descr="w16_class_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+ public · - private · # protected · ~ package.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Class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Association · Aggregation · Composition · Generalisation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10</a:t>
            </a:r>
          </a:p>
        </p:txBody>
      </p:sp>
      <p:pic>
        <p:nvPicPr>
          <p:cNvPr id="9" name="Picture 8" descr="w16_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Choose the diamond from ownership/lifecycle, not aesthetics.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Multiplicity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many objects can participate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11</a:t>
            </a:r>
          </a:p>
        </p:txBody>
      </p:sp>
      <p:pic>
        <p:nvPicPr>
          <p:cNvPr id="9" name="Picture 8" descr="w16_multipl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1 · 0..1 · * · 0..* · 1..* — Student 1 — 0..* Registration.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State Diagram: Course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Events cause transitions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12</a:t>
            </a:r>
          </a:p>
        </p:txBody>
      </p:sp>
      <p:pic>
        <p:nvPicPr>
          <p:cNvPr id="9" name="Picture 8" descr="w16_stat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Dynamic modelling asks “what happens?”, not “what exists?”.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vs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classic exam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13</a:t>
            </a:r>
          </a:p>
        </p:txBody>
      </p:sp>
      <p:pic>
        <p:nvPicPr>
          <p:cNvPr id="9" name="Picture 8" descr="w16_sequence_vs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Sequence = who talks to whom? · Activity = what happens next?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Full Model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requirement traced through every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14</a:t>
            </a:r>
          </a:p>
        </p:txBody>
      </p:sp>
      <p:pic>
        <p:nvPicPr>
          <p:cNvPr id="9" name="Picture 8" descr="w16_integratio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Requirement -&gt; Use Case -&gt; Classes -&gt; Sequence -&gt; State -&gt; Activity -&gt; Design.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UML Model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15</a:t>
            </a:r>
          </a:p>
        </p:txBody>
      </p:sp>
      <p:pic>
        <p:nvPicPr>
          <p:cNvPr id="9" name="Picture 8" descr="w16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checkCapacity() vs checkAvailableSeats() — are they the same operation?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Unified Process — Four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Iterative and incremental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16</a:t>
            </a:r>
          </a:p>
        </p:txBody>
      </p:sp>
      <p:pic>
        <p:nvPicPr>
          <p:cNvPr id="9" name="Picture 8" descr="w16_us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Inception -&gt; Elaboration -&gt; Construction -&gt; Transition.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Iterative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Build, evaluate, learn, repeat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17</a:t>
            </a:r>
          </a:p>
        </p:txBody>
      </p:sp>
      <p:pic>
        <p:nvPicPr>
          <p:cNvPr id="9" name="Picture 8" descr="w16_ite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3" y="1463040"/>
            <a:ext cx="8663408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Iterations are planned, measured intervals within phases.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Software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Use what exists — wisely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Reuse: </a:t>
            </a:r>
            <a:r>
              <a:rPr sz="1600">
                <a:solidFill>
                  <a:srgbClr val="2B2626"/>
                </a:solidFill>
                <a:latin typeface="Open Sans"/>
              </a:rPr>
              <a:t>component, class, library, framework, service, design, architecture.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Benefits: </a:t>
            </a:r>
            <a:r>
              <a:rPr sz="1600">
                <a:solidFill>
                  <a:srgbClr val="2B2626"/>
                </a:solidFill>
                <a:latin typeface="Open Sans"/>
              </a:rPr>
              <a:t>less duplication, less effort, better consistency, easier maintenance.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But: </a:t>
            </a:r>
            <a:r>
              <a:rPr sz="1600">
                <a:solidFill>
                  <a:srgbClr val="2B2626"/>
                </a:solidFill>
                <a:latin typeface="Open Sans"/>
              </a:rPr>
              <a:t>base reuse on suitability, security, maintainability, compatibility, licensing.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Reuse should not be “because something already exists.”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Case Study: Mobile Money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Actors · inheritance · associations · send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19</a:t>
            </a:r>
          </a:p>
        </p:txBody>
      </p:sp>
      <p:pic>
        <p:nvPicPr>
          <p:cNvPr id="9" name="Picture 8" descr="w16_mobile_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User &lt;- Customer/Agent/Admin · Customer 1—1 Wallet · Wallet 1—0..* Transaction.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Practical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diagrams + one deliberate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Diagrams: </a:t>
            </a:r>
            <a:r>
              <a:rPr sz="1600">
                <a:solidFill>
                  <a:srgbClr val="2B2626"/>
                </a:solidFill>
                <a:latin typeface="Open Sans"/>
              </a:rPr>
              <a:t>use-case, class, sequence (Send Money), activity, state (Transaction), component.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Introduce: </a:t>
            </a:r>
            <a:r>
              <a:rPr sz="1600">
                <a:solidFill>
                  <a:srgbClr val="2B2626"/>
                </a:solidFill>
                <a:latin typeface="Open Sans"/>
              </a:rPr>
              <a:t>sequence calls validateTransaction() but the class has checkTransaction().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Then: </a:t>
            </a:r>
            <a:r>
              <a:rPr sz="1600">
                <a:solidFill>
                  <a:srgbClr val="2B2626"/>
                </a:solidFill>
                <a:latin typeface="Open Sans"/>
              </a:rPr>
              <a:t>identify the inconsistency and correct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Modelling is complete when the model is logically consistent.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How to Approach an Exam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Never start drawing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21</a:t>
            </a:r>
          </a:p>
        </p:txBody>
      </p:sp>
      <p:pic>
        <p:nvPicPr>
          <p:cNvPr id="9" name="Picture 8" descr="w16_exam_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6" y="1371600"/>
            <a:ext cx="8089521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Read twice -&gt; nouns -&gt; objects -&gt; actors -&gt; use cases -&gt; models -&gt; consistency.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Exam Answering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Definition · Explain · Compare ·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Define: </a:t>
            </a:r>
            <a:r>
              <a:rPr sz="1500">
                <a:solidFill>
                  <a:srgbClr val="2B2626"/>
                </a:solidFill>
                <a:latin typeface="Open Sans"/>
              </a:rPr>
              <a:t>full definition, then an example.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Explain: </a:t>
            </a:r>
            <a:r>
              <a:rPr sz="1500">
                <a:solidFill>
                  <a:srgbClr val="2B2626"/>
                </a:solidFill>
                <a:latin typeface="Open Sans"/>
              </a:rPr>
              <a:t>Definition -&gt; Explanation -&gt; Example -&gt; Importance.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Compare: </a:t>
            </a:r>
            <a:r>
              <a:rPr sz="1500">
                <a:solidFill>
                  <a:srgbClr val="2B2626"/>
                </a:solidFill>
                <a:latin typeface="Open Sans"/>
              </a:rPr>
              <a:t>use a table (class vs object: meaning, memory, example, quantity).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UML: </a:t>
            </a:r>
            <a:r>
              <a:rPr sz="1500">
                <a:solidFill>
                  <a:srgbClr val="2B2626"/>
                </a:solidFill>
                <a:latin typeface="Open Sans"/>
              </a:rPr>
              <a:t>requirement -&gt; actors -&gt; use cases -&gt; classes -&gt; relationships -&gt; behaviour -&gt; consistency.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Examiners mark correct modelling, not artistic decoration.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Full-Length Practice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Two parallel forms; sit one under timed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Paper A: </a:t>
            </a:r>
            <a:r>
              <a:rPr sz="1600">
                <a:solidFill>
                  <a:srgbClr val="2B2626"/>
                </a:solidFill>
                <a:latin typeface="Open Sans"/>
              </a:rPr>
              <a:t>Community Clinic Appointment System.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Paper B: </a:t>
            </a:r>
            <a:r>
              <a:rPr sz="1600">
                <a:solidFill>
                  <a:srgbClr val="2B2626"/>
                </a:solidFill>
                <a:latin typeface="Open Sans"/>
              </a:rPr>
              <a:t>Campus Equipment Lending System.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Format: </a:t>
            </a:r>
            <a:r>
              <a:rPr sz="1600">
                <a:solidFill>
                  <a:srgbClr val="2B2626"/>
                </a:solidFill>
                <a:latin typeface="Open Sans"/>
              </a:rPr>
              <a:t>100 marks; Question 1 compulsory (40); choose any three of Questions 2–5 (20 each).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Approval: </a:t>
            </a:r>
            <a:r>
              <a:rPr sz="1600">
                <a:solidFill>
                  <a:srgbClr val="2B2626"/>
                </a:solidFill>
                <a:latin typeface="Open Sans"/>
              </a:rPr>
              <a:t>3 hours is a proposed duration; confirm Faculty rules. Marking guide is lecturer-only.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course outline weights the examination at 60% of the module grade.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Final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whole module in one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16 · Slide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1. </a:t>
            </a:r>
            <a:r>
              <a:rPr sz="1600">
                <a:solidFill>
                  <a:srgbClr val="2B2626"/>
                </a:solidFill>
                <a:latin typeface="Open Sans"/>
              </a:rPr>
              <a:t>OOAD is not simply about drawing UML diagrams.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2. </a:t>
            </a:r>
            <a:r>
              <a:rPr sz="1600">
                <a:solidFill>
                  <a:srgbClr val="2B2626"/>
                </a:solidFill>
                <a:latin typeface="Open Sans"/>
              </a:rPr>
              <a:t>Think systematically: identify what matters, how things interact and behave.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3. </a:t>
            </a:r>
            <a:r>
              <a:rPr sz="1600">
                <a:solidFill>
                  <a:srgbClr val="2B2626"/>
                </a:solidFill>
                <a:latin typeface="Open Sans"/>
              </a:rPr>
              <a:t>Transform understanding into a coherent design developers can implement.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Business Problem -&gt; Requirements -&gt; … -&gt; Model Integration -&gt; Implementation.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GOOD LUCK IN THE EXAMINATION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Work through the final revision checklist before sitting the exam.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Practise the noun technique and the 12-step scenario process.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Use the OMG UML 2.5.1 specification to verify notation.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You are now ready to analyse and design real systems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